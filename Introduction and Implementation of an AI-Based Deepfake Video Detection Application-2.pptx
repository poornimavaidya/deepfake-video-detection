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2" r:id="rId5"/>
    <p:sldId id="264" r:id="rId6"/>
    <p:sldId id="256" r:id="rId7"/>
    <p:sldId id="263" r:id="rId8"/>
    <p:sldId id="265" r:id="rId9"/>
    <p:sldId id="266" r:id="rId10"/>
    <p:sldId id="267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3547CD-CF76-B10E-8678-146F848253E0}" v="31" dt="2025-04-07T02:13:27.406"/>
    <p1510:client id="{EDE76D67-14BC-1775-AAC4-617090F1DBEE}" v="385" dt="2025-04-07T02:07:24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3"/>
  </p:normalViewPr>
  <p:slideViewPr>
    <p:cSldViewPr snapToGrid="0">
      <p:cViewPr varScale="1">
        <p:scale>
          <a:sx n="107" d="100"/>
          <a:sy n="107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F83E-CDE7-F573-2855-9D6D7FB67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D8D14-0F35-4C0F-4E76-1C96BE83B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8F386-5C5F-8AC5-7EBA-78EEABE56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C68B5-ED97-AE83-072E-F94D16AA5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B800D-523B-DFC2-CD64-23D23FEA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8D04B-6E0F-DAE1-F268-C92D4A37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A786-EB12-FF97-A1F2-8EC722F47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1DE7C-460D-C684-A0C6-3AA7D986F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257A6-5A43-A00C-FE9B-07141DEEA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DCE0C-6303-73E9-7D93-2DF36BAB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72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909F-383D-D36F-AAB6-558D6A09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D590E-3B02-CE3E-68D9-4A286223E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7DDA9-1E0D-D983-FCE2-4E9D303A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E9BC9-4D99-0F87-0D7B-0D786B6D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44BB-8398-75A6-C075-72ED6C14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FA1B-039F-E13A-BBB0-63421F436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4F620-51CC-F4F3-D3A8-13D813788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03D9E-C0C5-A421-67D8-AD3DD4C88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646F3-B0EA-A3C3-D13D-94BEC0DBE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E1EA5-90EB-4D67-AE6B-E8A69150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34910-68C2-B5DB-715F-D176C886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4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AE06C-27A5-37DB-6601-6A23054C9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5FD95-D2E1-9936-6A3E-4B10D0451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B9C5F-8681-E174-233E-420DDE1E3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9B38A2-4EE8-4B98-CA2D-027F47A137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805BA-DECE-C3E3-4CA1-E5E6B56186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A79441-4548-D817-1440-1BDCA18F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2D7CA7-4B1F-A23F-4B9A-3E2DC9BE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7CCEC4-E0AE-FA5F-54B8-109C9C53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4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A5D0-FCFB-FE76-814B-00F27A04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77504-89B9-65CD-03F7-4939192B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7C4BB-430C-6738-CD5D-B4012745A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6A618D-0087-4F58-CB74-83C73FDA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2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0214A-F629-1877-8D71-067C528F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639590-EC57-2DA1-28AF-5991C293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4FCAD-5DBB-6808-6CFA-8B0BF3B6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83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FBE4-073A-03F7-E14E-3AE73CED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79E08-4AAD-22D8-3082-04AE36196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52E5B-5351-1621-9518-62BBDE00F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86B34-F662-4F56-8768-F66C0DF8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7A99A-9872-687A-60E5-EB97879A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7FF56-4EB9-B961-2928-AF396567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3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3555-B356-9B3E-2153-BDA3C645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2D3172-37DC-B7D7-4C94-A77DCCBF9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58F39-6163-6983-1C1E-01F0E9042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CB1C5-CDD2-2B15-3075-8F64626F9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98027-8740-3313-AC7C-6A5BDA14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DCA95-3A66-DAC2-B726-D95EEC96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3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EF97-695B-321A-6F1F-57ABE40E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F2B58-5D66-961E-840B-59210AA1E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80D17-BD80-6DA5-29B1-352B8DEA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BE222-B86C-AE2D-8473-83BD145A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ABAD8-73B6-DA9E-27B9-E20B3C90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8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6C09B-1762-8E1A-FA26-7BB746126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2E863-E463-FCB2-51B6-0682297A3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30F4A-CC85-E225-C9F3-831756BA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82446-F13E-1A78-B36C-CF50B758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81B27-F180-52F3-0404-A099D223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E878C-6A9D-4B1A-6CE9-155F7850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3AB6B-B7EB-AFBC-3A1E-50D70436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4609C-C410-E1DF-8A4A-99B377731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130A8-8B5E-4C80-8915-3C500DB72F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AC6B8-A5B4-57B9-4600-E43F935BA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FF344-7BFD-AD22-EA1E-CAF8DE729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EB8FA4-E7C5-4FF3-8058-2ECD170A5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6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easy is it to make a deepfake video?">
            <a:extLst>
              <a:ext uri="{FF2B5EF4-FFF2-40B4-BE49-F238E27FC236}">
                <a16:creationId xmlns:a16="http://schemas.microsoft.com/office/drawing/2014/main" id="{198A7B0B-D59A-29A4-B066-BD4D9DB5E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77E357E-5626-1894-2FF3-1A0BD9BC721E}"/>
              </a:ext>
            </a:extLst>
          </p:cNvPr>
          <p:cNvSpPr txBox="1">
            <a:spLocks/>
          </p:cNvSpPr>
          <p:nvPr/>
        </p:nvSpPr>
        <p:spPr>
          <a:xfrm>
            <a:off x="737616" y="454850"/>
            <a:ext cx="6175248" cy="30564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Bodoni MT Condensed" panose="02070606080606020203" pitchFamily="18" charset="0"/>
              </a:rPr>
              <a:t>Introduction and Implementation of an AI Based Deepfake Video Detection Application </a:t>
            </a:r>
          </a:p>
        </p:txBody>
      </p:sp>
      <p:pic>
        <p:nvPicPr>
          <p:cNvPr id="5" name="Picture 4" descr="A logo of a university&#10;&#10;Description automatically generated">
            <a:extLst>
              <a:ext uri="{FF2B5EF4-FFF2-40B4-BE49-F238E27FC236}">
                <a16:creationId xmlns:a16="http://schemas.microsoft.com/office/drawing/2014/main" id="{D38EA7C7-57F1-CE38-B8A9-B10B4EBF8F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7120" y="0"/>
            <a:ext cx="824880" cy="82488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EBAC81-258B-EE89-028F-4AB0BE59A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3179246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i="1">
                <a:solidFill>
                  <a:schemeClr val="bg1"/>
                </a:solidFill>
                <a:latin typeface="Book Antiqua" panose="02040602050305030304" pitchFamily="18" charset="0"/>
              </a:rPr>
              <a:t>Instructor: </a:t>
            </a:r>
          </a:p>
          <a:p>
            <a:pPr marL="0" indent="0">
              <a:buNone/>
            </a:pPr>
            <a:r>
              <a:rPr lang="en-US" altLang="en-US" sz="2000" b="1" i="1">
                <a:solidFill>
                  <a:schemeClr val="bg1"/>
                </a:solidFill>
                <a:latin typeface="Book Antiqua" panose="02040602050305030304" pitchFamily="18" charset="0"/>
              </a:rPr>
              <a:t>Prof. Guan Yue Hong </a:t>
            </a:r>
          </a:p>
          <a:p>
            <a:pPr marL="0" indent="0">
              <a:buNone/>
            </a:pPr>
            <a:endParaRPr lang="en-US" altLang="en-US" sz="2000" b="1" i="1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endParaRPr lang="en-US" sz="20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F65C46-73C8-5E7E-9A56-656069C46115}"/>
              </a:ext>
            </a:extLst>
          </p:cNvPr>
          <p:cNvSpPr txBox="1">
            <a:spLocks/>
          </p:cNvSpPr>
          <p:nvPr/>
        </p:nvSpPr>
        <p:spPr>
          <a:xfrm>
            <a:off x="2060446" y="3570088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i="1" dirty="0">
                <a:solidFill>
                  <a:schemeClr val="bg1"/>
                </a:solidFill>
                <a:latin typeface="Book Antiqua" panose="02040602050305030304" pitchFamily="18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000" b="1" i="1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i="1" dirty="0">
                <a:solidFill>
                  <a:schemeClr val="bg1"/>
                </a:solidFill>
                <a:latin typeface="Book Antiqua" panose="02040602050305030304" pitchFamily="18" charset="0"/>
              </a:rPr>
              <a:t>Prepared by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i="1" dirty="0">
                <a:solidFill>
                  <a:schemeClr val="bg1"/>
                </a:solidFill>
                <a:latin typeface="Book Antiqua" panose="02040602050305030304" pitchFamily="18" charset="0"/>
              </a:rPr>
              <a:t>Poornima Vaidya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5601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0F4CC-E936-A22F-1A7C-04295F3CA4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98" r="1" b="1"/>
          <a:stretch/>
        </p:blipFill>
        <p:spPr>
          <a:xfrm>
            <a:off x="2826327" y="10"/>
            <a:ext cx="9362625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319FF-E8C8-DA9E-FAEA-ED8A9B6898CD}"/>
              </a:ext>
            </a:extLst>
          </p:cNvPr>
          <p:cNvSpPr txBox="1"/>
          <p:nvPr/>
        </p:nvSpPr>
        <p:spPr>
          <a:xfrm>
            <a:off x="679768" y="472912"/>
            <a:ext cx="3416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>
                <a:latin typeface="+mj-lt"/>
                <a:ea typeface="맑은 고딕" panose="020B0503020000020004" pitchFamily="50" charset="-127"/>
              </a:rPr>
              <a:t>CONTENTS</a:t>
            </a:r>
            <a:endParaRPr lang="ko-KR" altLang="en-US" sz="4000" b="1">
              <a:latin typeface="+mj-lt"/>
              <a:ea typeface="맑은 고딕" panose="020B0503020000020004" pitchFamily="50" charset="-127"/>
            </a:endParaRPr>
          </a:p>
        </p:txBody>
      </p:sp>
      <p:grpSp>
        <p:nvGrpSpPr>
          <p:cNvPr id="6" name="그룹 1">
            <a:extLst>
              <a:ext uri="{FF2B5EF4-FFF2-40B4-BE49-F238E27FC236}">
                <a16:creationId xmlns:a16="http://schemas.microsoft.com/office/drawing/2014/main" id="{3FC675CF-4C53-0D0B-8D37-CD20B20D73E2}"/>
              </a:ext>
            </a:extLst>
          </p:cNvPr>
          <p:cNvGrpSpPr/>
          <p:nvPr/>
        </p:nvGrpSpPr>
        <p:grpSpPr>
          <a:xfrm>
            <a:off x="364005" y="1180798"/>
            <a:ext cx="4457531" cy="576064"/>
            <a:chOff x="1050573" y="633898"/>
            <a:chExt cx="4457531" cy="5760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CD79433-8D6F-DFEF-7877-8D402508CA73}"/>
                </a:ext>
              </a:extLst>
            </p:cNvPr>
            <p:cNvSpPr/>
            <p:nvPr/>
          </p:nvSpPr>
          <p:spPr>
            <a:xfrm>
              <a:off x="1122582" y="633898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TextBox 13">
              <a:extLst>
                <a:ext uri="{FF2B5EF4-FFF2-40B4-BE49-F238E27FC236}">
                  <a16:creationId xmlns:a16="http://schemas.microsoft.com/office/drawing/2014/main" id="{82EE4198-E38A-B67C-383B-84353EDBCF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661803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01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3CC09783-319C-7B78-0C72-7CDD4BDD4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723358"/>
              <a:ext cx="372482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000" b="1">
                  <a:latin typeface="+mj-lt"/>
                </a:rPr>
                <a:t>Introduction</a:t>
              </a:r>
              <a:endParaRPr lang="en-US" altLang="ko-KR" sz="2000" b="1">
                <a:latin typeface="+mj-lt"/>
              </a:endParaRPr>
            </a:p>
          </p:txBody>
        </p:sp>
      </p:grpSp>
      <p:grpSp>
        <p:nvGrpSpPr>
          <p:cNvPr id="16" name="그룹 3">
            <a:extLst>
              <a:ext uri="{FF2B5EF4-FFF2-40B4-BE49-F238E27FC236}">
                <a16:creationId xmlns:a16="http://schemas.microsoft.com/office/drawing/2014/main" id="{DFAFB00F-C0BF-C564-0BC8-C4814A1559B4}"/>
              </a:ext>
            </a:extLst>
          </p:cNvPr>
          <p:cNvGrpSpPr/>
          <p:nvPr/>
        </p:nvGrpSpPr>
        <p:grpSpPr>
          <a:xfrm>
            <a:off x="364005" y="1793392"/>
            <a:ext cx="4457531" cy="576064"/>
            <a:chOff x="1050573" y="1507740"/>
            <a:chExt cx="4457531" cy="57606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B7CEA16-A0DC-137F-E7D3-0A3274FB18CC}"/>
                </a:ext>
              </a:extLst>
            </p:cNvPr>
            <p:cNvSpPr/>
            <p:nvPr/>
          </p:nvSpPr>
          <p:spPr>
            <a:xfrm>
              <a:off x="1122582" y="1507740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1" name="TextBox 13">
              <a:extLst>
                <a:ext uri="{FF2B5EF4-FFF2-40B4-BE49-F238E27FC236}">
                  <a16:creationId xmlns:a16="http://schemas.microsoft.com/office/drawing/2014/main" id="{D571E356-262F-8329-3A0A-5C79FFFD9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1538520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02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22" name="Text Box 5">
              <a:extLst>
                <a:ext uri="{FF2B5EF4-FFF2-40B4-BE49-F238E27FC236}">
                  <a16:creationId xmlns:a16="http://schemas.microsoft.com/office/drawing/2014/main" id="{85A31F29-B2C4-4084-43E7-44D0326D5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1600075"/>
              <a:ext cx="372482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000" b="1">
                  <a:latin typeface="+mj-lt"/>
                </a:rPr>
                <a:t>Abstract</a:t>
              </a:r>
            </a:p>
          </p:txBody>
        </p:sp>
      </p:grpSp>
      <p:grpSp>
        <p:nvGrpSpPr>
          <p:cNvPr id="23" name="그룹 5">
            <a:extLst>
              <a:ext uri="{FF2B5EF4-FFF2-40B4-BE49-F238E27FC236}">
                <a16:creationId xmlns:a16="http://schemas.microsoft.com/office/drawing/2014/main" id="{BD92544B-06C7-8BB5-66FD-AAD28146F43E}"/>
              </a:ext>
            </a:extLst>
          </p:cNvPr>
          <p:cNvGrpSpPr/>
          <p:nvPr/>
        </p:nvGrpSpPr>
        <p:grpSpPr>
          <a:xfrm>
            <a:off x="364005" y="2408862"/>
            <a:ext cx="4457531" cy="576064"/>
            <a:chOff x="1050573" y="2381582"/>
            <a:chExt cx="4457531" cy="57606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AD5C61-2338-3ED7-D812-2AC5D457A98B}"/>
                </a:ext>
              </a:extLst>
            </p:cNvPr>
            <p:cNvSpPr/>
            <p:nvPr/>
          </p:nvSpPr>
          <p:spPr>
            <a:xfrm>
              <a:off x="1122582" y="2381582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5" name="TextBox 13">
              <a:extLst>
                <a:ext uri="{FF2B5EF4-FFF2-40B4-BE49-F238E27FC236}">
                  <a16:creationId xmlns:a16="http://schemas.microsoft.com/office/drawing/2014/main" id="{616BD704-950B-EFAC-7BB9-7680D4F9C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2415237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03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26" name="Text Box 5">
              <a:extLst>
                <a:ext uri="{FF2B5EF4-FFF2-40B4-BE49-F238E27FC236}">
                  <a16:creationId xmlns:a16="http://schemas.microsoft.com/office/drawing/2014/main" id="{9E98AA2C-4097-E1DA-3296-F07A87778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2476792"/>
              <a:ext cx="372482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000" b="1">
                  <a:latin typeface="+mj-lt"/>
                </a:rPr>
                <a:t>Dataset </a:t>
              </a:r>
            </a:p>
          </p:txBody>
        </p:sp>
      </p:grpSp>
      <p:grpSp>
        <p:nvGrpSpPr>
          <p:cNvPr id="27" name="그룹 5">
            <a:extLst>
              <a:ext uri="{FF2B5EF4-FFF2-40B4-BE49-F238E27FC236}">
                <a16:creationId xmlns:a16="http://schemas.microsoft.com/office/drawing/2014/main" id="{E9A3854D-9D30-A43C-FEA2-E38871FEE5B3}"/>
              </a:ext>
            </a:extLst>
          </p:cNvPr>
          <p:cNvGrpSpPr/>
          <p:nvPr/>
        </p:nvGrpSpPr>
        <p:grpSpPr>
          <a:xfrm>
            <a:off x="364005" y="3038798"/>
            <a:ext cx="4457531" cy="576064"/>
            <a:chOff x="1050573" y="2381582"/>
            <a:chExt cx="4457531" cy="57606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85EAB21-A042-ABEF-C1BC-B6135105AB54}"/>
                </a:ext>
              </a:extLst>
            </p:cNvPr>
            <p:cNvSpPr/>
            <p:nvPr/>
          </p:nvSpPr>
          <p:spPr>
            <a:xfrm>
              <a:off x="1122582" y="2381582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9" name="TextBox 13">
              <a:extLst>
                <a:ext uri="{FF2B5EF4-FFF2-40B4-BE49-F238E27FC236}">
                  <a16:creationId xmlns:a16="http://schemas.microsoft.com/office/drawing/2014/main" id="{122477FA-9ECF-A909-6C53-D2B5D82ED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2415237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04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30" name="Text Box 5">
              <a:extLst>
                <a:ext uri="{FF2B5EF4-FFF2-40B4-BE49-F238E27FC236}">
                  <a16:creationId xmlns:a16="http://schemas.microsoft.com/office/drawing/2014/main" id="{0C04049D-E93B-853F-DA87-08D93FB3A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2476792"/>
              <a:ext cx="372482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000" b="1">
                  <a:latin typeface="+mj-lt"/>
                </a:rPr>
                <a:t>Implementation </a:t>
              </a:r>
            </a:p>
          </p:txBody>
        </p:sp>
      </p:grpSp>
      <p:grpSp>
        <p:nvGrpSpPr>
          <p:cNvPr id="31" name="그룹 5">
            <a:extLst>
              <a:ext uri="{FF2B5EF4-FFF2-40B4-BE49-F238E27FC236}">
                <a16:creationId xmlns:a16="http://schemas.microsoft.com/office/drawing/2014/main" id="{562B3956-32AF-9A9F-A6D9-3C1D70C8AD4B}"/>
              </a:ext>
            </a:extLst>
          </p:cNvPr>
          <p:cNvGrpSpPr/>
          <p:nvPr/>
        </p:nvGrpSpPr>
        <p:grpSpPr>
          <a:xfrm>
            <a:off x="364005" y="3662906"/>
            <a:ext cx="4773294" cy="576064"/>
            <a:chOff x="1050573" y="2381582"/>
            <a:chExt cx="4773294" cy="57606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4A0829-53E0-F755-3D19-50BB87582ED5}"/>
                </a:ext>
              </a:extLst>
            </p:cNvPr>
            <p:cNvSpPr/>
            <p:nvPr/>
          </p:nvSpPr>
          <p:spPr>
            <a:xfrm>
              <a:off x="1122582" y="2381582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BF867D81-1E4A-E518-EFA7-9B1FA382D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2415237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05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34" name="Text Box 5">
              <a:extLst>
                <a:ext uri="{FF2B5EF4-FFF2-40B4-BE49-F238E27FC236}">
                  <a16:creationId xmlns:a16="http://schemas.microsoft.com/office/drawing/2014/main" id="{FC0D479C-9D61-78CC-BEC3-0E481AA72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2476792"/>
              <a:ext cx="404058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000" b="1">
                  <a:latin typeface="+mj-lt"/>
                </a:rPr>
                <a:t>Model Output</a:t>
              </a:r>
            </a:p>
          </p:txBody>
        </p:sp>
      </p:grpSp>
      <p:grpSp>
        <p:nvGrpSpPr>
          <p:cNvPr id="35" name="그룹 5">
            <a:extLst>
              <a:ext uri="{FF2B5EF4-FFF2-40B4-BE49-F238E27FC236}">
                <a16:creationId xmlns:a16="http://schemas.microsoft.com/office/drawing/2014/main" id="{18E7267C-4ACF-4E2A-02EA-9D1680403820}"/>
              </a:ext>
            </a:extLst>
          </p:cNvPr>
          <p:cNvGrpSpPr/>
          <p:nvPr/>
        </p:nvGrpSpPr>
        <p:grpSpPr>
          <a:xfrm>
            <a:off x="364005" y="4277163"/>
            <a:ext cx="4773294" cy="576064"/>
            <a:chOff x="1050573" y="2381582"/>
            <a:chExt cx="4773294" cy="57606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6D130EE-E715-B212-2FD0-DB051BD08D76}"/>
                </a:ext>
              </a:extLst>
            </p:cNvPr>
            <p:cNvSpPr/>
            <p:nvPr/>
          </p:nvSpPr>
          <p:spPr>
            <a:xfrm>
              <a:off x="1122582" y="2381582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7" name="TextBox 13">
              <a:extLst>
                <a:ext uri="{FF2B5EF4-FFF2-40B4-BE49-F238E27FC236}">
                  <a16:creationId xmlns:a16="http://schemas.microsoft.com/office/drawing/2014/main" id="{050554FB-B1A5-F261-25D9-E5118B293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2415237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06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38" name="Text Box 5">
              <a:extLst>
                <a:ext uri="{FF2B5EF4-FFF2-40B4-BE49-F238E27FC236}">
                  <a16:creationId xmlns:a16="http://schemas.microsoft.com/office/drawing/2014/main" id="{7AEAA2C4-7992-18EB-9C85-041E9E815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2476792"/>
              <a:ext cx="404058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000" b="1">
                  <a:latin typeface="+mj-lt"/>
                </a:rPr>
                <a:t>Future 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993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B99B0-F1A3-DD6C-31EF-2C2B0CE90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AI Advancements &amp; Deepfake Threats</a:t>
            </a:r>
            <a:endParaRPr lang="en-US" b="0" i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Rapid AI progress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 → Driving innovation across industries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Emerging concern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 → Rise of deepfake technology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Deepfake capability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 → Generates hyper-realistic fake videos/images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Key risks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Erosion of </a:t>
            </a: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digital trust</a:t>
            </a:r>
            <a:endParaRPr lang="en-US" b="0" i="0">
              <a:solidFill>
                <a:srgbClr val="404040"/>
              </a:solidFill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Threats to </a:t>
            </a: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personal privacy</a:t>
            </a:r>
            <a:endParaRPr lang="en-US" b="0" i="0">
              <a:solidFill>
                <a:srgbClr val="404040"/>
              </a:solidFill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National </a:t>
            </a: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security vulnerabilities</a:t>
            </a:r>
            <a:endParaRPr lang="en-US" b="0" i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Urgent need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 → Robust detection solutions</a:t>
            </a:r>
          </a:p>
          <a:p>
            <a:pPr marL="0" indent="0">
              <a:buNone/>
            </a:pPr>
            <a:endParaRPr lang="en-US"/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8EA08F67-FEF6-523C-B6C8-D67AB8A105EB}"/>
              </a:ext>
            </a:extLst>
          </p:cNvPr>
          <p:cNvGrpSpPr/>
          <p:nvPr/>
        </p:nvGrpSpPr>
        <p:grpSpPr>
          <a:xfrm>
            <a:off x="382478" y="525016"/>
            <a:ext cx="4457531" cy="612680"/>
            <a:chOff x="1050573" y="633898"/>
            <a:chExt cx="4457531" cy="6126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9ED11D-FAF5-A0F9-E367-5AAB36336E10}"/>
                </a:ext>
              </a:extLst>
            </p:cNvPr>
            <p:cNvSpPr/>
            <p:nvPr/>
          </p:nvSpPr>
          <p:spPr>
            <a:xfrm>
              <a:off x="1122582" y="633898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" name="TextBox 13">
              <a:extLst>
                <a:ext uri="{FF2B5EF4-FFF2-40B4-BE49-F238E27FC236}">
                  <a16:creationId xmlns:a16="http://schemas.microsoft.com/office/drawing/2014/main" id="{81B6A762-1C8A-7879-BF5B-7FD094FC3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661803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01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D0E51F1C-01F1-25A0-C181-B0DB4BF2E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723358"/>
              <a:ext cx="372482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800" b="1">
                  <a:latin typeface="+mj-lt"/>
                </a:rPr>
                <a:t>Introduction</a:t>
              </a:r>
              <a:endParaRPr lang="en-US" altLang="ko-KR" sz="2800" b="1">
                <a:latin typeface="+mj-lt"/>
              </a:endParaRPr>
            </a:p>
          </p:txBody>
        </p:sp>
      </p:grpSp>
      <p:pic>
        <p:nvPicPr>
          <p:cNvPr id="3074" name="Picture 2" descr="How to Find if the Image is Edited [2025]">
            <a:extLst>
              <a:ext uri="{FF2B5EF4-FFF2-40B4-BE49-F238E27FC236}">
                <a16:creationId xmlns:a16="http://schemas.microsoft.com/office/drawing/2014/main" id="{BFE7A861-CCC2-53CD-F905-F5965D876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927" y="0"/>
            <a:ext cx="3168073" cy="238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428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2237-8A70-B80D-6AB4-41E8F4D11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Rapid deepfake advancement → Harder to detect manipulated videos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Critical need for reliable detection tools</a:t>
            </a: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Hybrid AI detection system combining: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err="1">
                <a:solidFill>
                  <a:srgbClr val="404040"/>
                </a:solidFill>
                <a:effectLst/>
                <a:latin typeface="DeepSeek-CJK-patch"/>
              </a:rPr>
              <a:t>Xception</a:t>
            </a: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 CNN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 Spatial feature analysis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LSTM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 Temporal pattern recognition</a:t>
            </a:r>
          </a:p>
          <a:p>
            <a:endParaRPr lang="en-US"/>
          </a:p>
        </p:txBody>
      </p:sp>
      <p:grpSp>
        <p:nvGrpSpPr>
          <p:cNvPr id="8" name="그룹 1">
            <a:extLst>
              <a:ext uri="{FF2B5EF4-FFF2-40B4-BE49-F238E27FC236}">
                <a16:creationId xmlns:a16="http://schemas.microsoft.com/office/drawing/2014/main" id="{902534E7-A36D-8629-3427-467CF354E43A}"/>
              </a:ext>
            </a:extLst>
          </p:cNvPr>
          <p:cNvGrpSpPr/>
          <p:nvPr/>
        </p:nvGrpSpPr>
        <p:grpSpPr>
          <a:xfrm>
            <a:off x="382478" y="525016"/>
            <a:ext cx="4457531" cy="612680"/>
            <a:chOff x="1050573" y="633898"/>
            <a:chExt cx="4457531" cy="61268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677A15-78B6-8818-D2D7-122EF47C6F04}"/>
                </a:ext>
              </a:extLst>
            </p:cNvPr>
            <p:cNvSpPr/>
            <p:nvPr/>
          </p:nvSpPr>
          <p:spPr>
            <a:xfrm>
              <a:off x="1122582" y="633898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0" name="TextBox 13">
              <a:extLst>
                <a:ext uri="{FF2B5EF4-FFF2-40B4-BE49-F238E27FC236}">
                  <a16:creationId xmlns:a16="http://schemas.microsoft.com/office/drawing/2014/main" id="{83672D06-F76E-CEC8-E5BF-99BD18BDE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661803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02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716AE9D4-574E-C987-D6BE-E3DA778A8A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723358"/>
              <a:ext cx="372482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800" b="1">
                  <a:latin typeface="+mj-lt"/>
                </a:rPr>
                <a:t>Abstract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B8BD4D5-452C-989A-EBBD-2E27AA26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083" y="0"/>
            <a:ext cx="3512917" cy="179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8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6CF4-8B9F-8341-0737-C35751B0B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Dual Content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Original (real) videos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Manipulated (fake) videos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1">
                <a:solidFill>
                  <a:srgbClr val="404040"/>
                </a:solidFill>
                <a:effectLst/>
                <a:latin typeface="DeepSeek-CJK-patch"/>
              </a:rPr>
              <a:t>Perfectly balanced for detection tasks</a:t>
            </a:r>
            <a:endParaRPr lang="en-US" b="0" i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Technical Specifications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Duration: 1–45 seconds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Resolution: 1920×1080 (Full HD)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Size: 152KB–28MB (optimized for processing)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Rich Metadata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>
                <a:solidFill>
                  <a:srgbClr val="404040"/>
                </a:solidFill>
                <a:latin typeface="DeepSeek-CJK-patch"/>
              </a:rPr>
              <a:t>Clear "real"/"fake" labels</a:t>
            </a:r>
          </a:p>
          <a:p>
            <a:pPr>
              <a:spcAft>
                <a:spcPts val="300"/>
              </a:spcAft>
            </a:pPr>
            <a:r>
              <a:rPr lang="en-US" sz="2400">
                <a:solidFill>
                  <a:srgbClr val="404040"/>
                </a:solidFill>
                <a:latin typeface="DeepSeek-CJK-patch"/>
              </a:rPr>
              <a:t>Manipulation methods: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400">
                <a:solidFill>
                  <a:srgbClr val="404040"/>
                </a:solidFill>
                <a:latin typeface="DeepSeek-CJK-patch"/>
              </a:rPr>
              <a:t>    - Face-swapping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2400">
                <a:solidFill>
                  <a:srgbClr val="404040"/>
                </a:solidFill>
                <a:latin typeface="DeepSeek-CJK-patch"/>
              </a:rPr>
              <a:t>    - Facial reenactment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b="0" i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en-US"/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ED9E1085-AF69-5961-C42B-E17B202D89AE}"/>
              </a:ext>
            </a:extLst>
          </p:cNvPr>
          <p:cNvGrpSpPr/>
          <p:nvPr/>
        </p:nvGrpSpPr>
        <p:grpSpPr>
          <a:xfrm>
            <a:off x="382478" y="525016"/>
            <a:ext cx="4457531" cy="612680"/>
            <a:chOff x="1050573" y="633898"/>
            <a:chExt cx="4457531" cy="6126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B28D2E-D604-02EE-5F86-C2F60F5AB179}"/>
                </a:ext>
              </a:extLst>
            </p:cNvPr>
            <p:cNvSpPr/>
            <p:nvPr/>
          </p:nvSpPr>
          <p:spPr>
            <a:xfrm>
              <a:off x="1122582" y="633898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" name="TextBox 13">
              <a:extLst>
                <a:ext uri="{FF2B5EF4-FFF2-40B4-BE49-F238E27FC236}">
                  <a16:creationId xmlns:a16="http://schemas.microsoft.com/office/drawing/2014/main" id="{5A08D81F-7C59-F969-44BF-C0EC9CB2D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661803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03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91191082-249D-70ED-E93D-2E7F1E80E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723358"/>
              <a:ext cx="372482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800" b="1">
                  <a:latin typeface="+mj-lt"/>
                </a:rPr>
                <a:t>Dataset</a:t>
              </a:r>
            </a:p>
          </p:txBody>
        </p:sp>
      </p:grpSp>
      <p:pic>
        <p:nvPicPr>
          <p:cNvPr id="5122" name="Picture 2" descr="Deep Fake Detection (DFD) Entire Original Dataset | Kaggle">
            <a:extLst>
              <a:ext uri="{FF2B5EF4-FFF2-40B4-BE49-F238E27FC236}">
                <a16:creationId xmlns:a16="http://schemas.microsoft.com/office/drawing/2014/main" id="{ACFCC4FE-C096-11E4-7592-217124F26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691" y="0"/>
            <a:ext cx="2542309" cy="2542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063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77095FC1-70FC-6B45-E078-B93B958B6598}"/>
              </a:ext>
            </a:extLst>
          </p:cNvPr>
          <p:cNvGrpSpPr/>
          <p:nvPr/>
        </p:nvGrpSpPr>
        <p:grpSpPr>
          <a:xfrm>
            <a:off x="-7239" y="1831701"/>
            <a:ext cx="2706624" cy="2362494"/>
            <a:chOff x="0" y="1463040"/>
            <a:chExt cx="2706624" cy="2362494"/>
          </a:xfrm>
        </p:grpSpPr>
        <p:sp>
          <p:nvSpPr>
            <p:cNvPr id="4" name="Flowchart: Multidocument 3">
              <a:extLst>
                <a:ext uri="{FF2B5EF4-FFF2-40B4-BE49-F238E27FC236}">
                  <a16:creationId xmlns:a16="http://schemas.microsoft.com/office/drawing/2014/main" id="{C20E772B-DAEB-14F2-5580-E4C04639E63A}"/>
                </a:ext>
              </a:extLst>
            </p:cNvPr>
            <p:cNvSpPr/>
            <p:nvPr/>
          </p:nvSpPr>
          <p:spPr>
            <a:xfrm>
              <a:off x="384048" y="1463040"/>
              <a:ext cx="1499616" cy="832104"/>
            </a:xfrm>
            <a:prstGeom prst="flowChartMultidocumen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Real Labeled Videos </a:t>
              </a:r>
            </a:p>
          </p:txBody>
        </p:sp>
        <p:sp>
          <p:nvSpPr>
            <p:cNvPr id="5" name="Flowchart: Multidocument 4">
              <a:extLst>
                <a:ext uri="{FF2B5EF4-FFF2-40B4-BE49-F238E27FC236}">
                  <a16:creationId xmlns:a16="http://schemas.microsoft.com/office/drawing/2014/main" id="{4584F72A-8064-25BD-0534-0577236F36AC}"/>
                </a:ext>
              </a:extLst>
            </p:cNvPr>
            <p:cNvSpPr/>
            <p:nvPr/>
          </p:nvSpPr>
          <p:spPr>
            <a:xfrm>
              <a:off x="265176" y="2651760"/>
              <a:ext cx="1499616" cy="832104"/>
            </a:xfrm>
            <a:prstGeom prst="flowChartMultidocumen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Fake Labeled Videos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99BB31A-98BE-D144-E422-FF55221B6CE6}"/>
                </a:ext>
              </a:extLst>
            </p:cNvPr>
            <p:cNvSpPr txBox="1"/>
            <p:nvPr/>
          </p:nvSpPr>
          <p:spPr>
            <a:xfrm>
              <a:off x="0" y="3486980"/>
              <a:ext cx="27066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i="0" err="1">
                  <a:solidFill>
                    <a:srgbClr val="0070C0"/>
                  </a:solidFill>
                  <a:effectLst/>
                  <a:latin typeface="DeepSeek-CJK-patch"/>
                </a:rPr>
                <a:t>FaceForensics</a:t>
              </a:r>
              <a:r>
                <a:rPr lang="en-US" sz="1600" b="0" i="0">
                  <a:solidFill>
                    <a:srgbClr val="0070C0"/>
                  </a:solidFill>
                  <a:effectLst/>
                  <a:latin typeface="DeepSeek-CJK-patch"/>
                </a:rPr>
                <a:t>++ Dataset </a:t>
              </a:r>
              <a:endParaRPr lang="en-US" sz="1600">
                <a:solidFill>
                  <a:srgbClr val="0070C0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2F362A6-9B78-8B29-A47E-046EB14938F3}"/>
              </a:ext>
            </a:extLst>
          </p:cNvPr>
          <p:cNvGrpSpPr/>
          <p:nvPr/>
        </p:nvGrpSpPr>
        <p:grpSpPr>
          <a:xfrm>
            <a:off x="4046223" y="2140811"/>
            <a:ext cx="2706624" cy="1045988"/>
            <a:chOff x="4032504" y="493776"/>
            <a:chExt cx="2706624" cy="104598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5AED42-684E-5256-0051-07E43E648CBC}"/>
                </a:ext>
              </a:extLst>
            </p:cNvPr>
            <p:cNvSpPr txBox="1"/>
            <p:nvPr/>
          </p:nvSpPr>
          <p:spPr>
            <a:xfrm>
              <a:off x="4032504" y="493776"/>
              <a:ext cx="270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rgbClr val="404040"/>
                  </a:solidFill>
                  <a:latin typeface="DeepSeek-CJK-patch"/>
                </a:rPr>
                <a:t>Data Augmentation 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0757E87-83B8-859C-4DA7-52ADF2EE6D92}"/>
                </a:ext>
              </a:extLst>
            </p:cNvPr>
            <p:cNvSpPr/>
            <p:nvPr/>
          </p:nvSpPr>
          <p:spPr>
            <a:xfrm>
              <a:off x="4699445" y="863108"/>
              <a:ext cx="1417320" cy="676656"/>
            </a:xfrm>
            <a:prstGeom prst="round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Rotation, Flip, Zoom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4A49AD7-3565-9E35-7735-E70986E26B76}"/>
              </a:ext>
            </a:extLst>
          </p:cNvPr>
          <p:cNvSpPr txBox="1"/>
          <p:nvPr/>
        </p:nvSpPr>
        <p:spPr>
          <a:xfrm>
            <a:off x="6370702" y="800893"/>
            <a:ext cx="270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Model Architecture</a:t>
            </a:r>
            <a:endParaRPr lang="en-US" b="1">
              <a:solidFill>
                <a:srgbClr val="404040"/>
              </a:solidFill>
              <a:latin typeface="DeepSeek-CJK-patch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942CFE7-A645-562C-4465-DDA1031B4BD7}"/>
              </a:ext>
            </a:extLst>
          </p:cNvPr>
          <p:cNvSpPr/>
          <p:nvPr/>
        </p:nvSpPr>
        <p:spPr>
          <a:xfrm>
            <a:off x="6500814" y="1226863"/>
            <a:ext cx="2533842" cy="347877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F55A2E-0AEA-CC77-BFB0-E29655467465}"/>
              </a:ext>
            </a:extLst>
          </p:cNvPr>
          <p:cNvSpPr/>
          <p:nvPr/>
        </p:nvSpPr>
        <p:spPr>
          <a:xfrm>
            <a:off x="6962014" y="1621168"/>
            <a:ext cx="1600200" cy="676656"/>
          </a:xfrm>
          <a:prstGeom prst="round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TimeDistributed Xception </a:t>
            </a:r>
          </a:p>
          <a:p>
            <a:pPr algn="ctr"/>
            <a:r>
              <a:rPr lang="en-US" sz="1400"/>
              <a:t>CNN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8E2809-3515-9C28-2605-0A4EA13715C5}"/>
              </a:ext>
            </a:extLst>
          </p:cNvPr>
          <p:cNvSpPr txBox="1"/>
          <p:nvPr/>
        </p:nvSpPr>
        <p:spPr>
          <a:xfrm>
            <a:off x="6408802" y="1226863"/>
            <a:ext cx="270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0">
                <a:solidFill>
                  <a:srgbClr val="404040"/>
                </a:solidFill>
                <a:effectLst/>
                <a:latin typeface="DeepSeek-CJK-patch"/>
              </a:rPr>
              <a:t>Spatial Feature Extraction</a:t>
            </a:r>
            <a:endParaRPr lang="en-US" sz="1600" b="1">
              <a:solidFill>
                <a:srgbClr val="404040"/>
              </a:solidFill>
              <a:latin typeface="DeepSeek-CJK-patch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B412A1-4F2D-F181-73DA-7A5ABA8666A3}"/>
              </a:ext>
            </a:extLst>
          </p:cNvPr>
          <p:cNvSpPr txBox="1"/>
          <p:nvPr/>
        </p:nvSpPr>
        <p:spPr>
          <a:xfrm>
            <a:off x="6421566" y="3484082"/>
            <a:ext cx="270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0">
                <a:solidFill>
                  <a:srgbClr val="404040"/>
                </a:solidFill>
                <a:effectLst/>
                <a:latin typeface="DeepSeek-CJK-patch"/>
              </a:rPr>
              <a:t>Classification</a:t>
            </a:r>
            <a:endParaRPr lang="en-US" sz="1600" b="1">
              <a:solidFill>
                <a:srgbClr val="404040"/>
              </a:solidFill>
              <a:latin typeface="DeepSeek-CJK-patch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483901-8EE2-8E29-120A-9D12AE2D6CE7}"/>
              </a:ext>
            </a:extLst>
          </p:cNvPr>
          <p:cNvSpPr txBox="1"/>
          <p:nvPr/>
        </p:nvSpPr>
        <p:spPr>
          <a:xfrm>
            <a:off x="6408802" y="2387436"/>
            <a:ext cx="270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0">
                <a:solidFill>
                  <a:srgbClr val="404040"/>
                </a:solidFill>
                <a:effectLst/>
                <a:latin typeface="DeepSeek-CJK-patch"/>
              </a:rPr>
              <a:t>Temporal Analysis</a:t>
            </a:r>
            <a:endParaRPr lang="en-US" sz="1600" b="1">
              <a:solidFill>
                <a:srgbClr val="404040"/>
              </a:solidFill>
              <a:latin typeface="DeepSeek-CJK-patch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B95B634-B130-E1C0-7725-25F81F4D1DF3}"/>
              </a:ext>
            </a:extLst>
          </p:cNvPr>
          <p:cNvSpPr/>
          <p:nvPr/>
        </p:nvSpPr>
        <p:spPr>
          <a:xfrm>
            <a:off x="7015354" y="2725990"/>
            <a:ext cx="1600200" cy="676656"/>
          </a:xfrm>
          <a:prstGeom prst="round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0" i="0">
                <a:solidFill>
                  <a:srgbClr val="404040"/>
                </a:solidFill>
                <a:effectLst/>
                <a:latin typeface="DeepSeek-CJK-patch"/>
              </a:rPr>
              <a:t>LSTM Layer</a:t>
            </a:r>
            <a:endParaRPr lang="en-US" sz="1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C6D0CB3-4C49-BA52-685F-27F9C032875C}"/>
              </a:ext>
            </a:extLst>
          </p:cNvPr>
          <p:cNvSpPr/>
          <p:nvPr/>
        </p:nvSpPr>
        <p:spPr>
          <a:xfrm>
            <a:off x="7015354" y="3822636"/>
            <a:ext cx="1600200" cy="676656"/>
          </a:xfrm>
          <a:prstGeom prst="round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0" i="0">
                <a:solidFill>
                  <a:srgbClr val="404040"/>
                </a:solidFill>
                <a:effectLst/>
                <a:latin typeface="DeepSeek-CJK-patch"/>
              </a:rPr>
              <a:t>Dense Layers (Softmax)</a:t>
            </a:r>
            <a:endParaRPr lang="en-US" sz="140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8BA764F-1D04-DDBF-EAA7-CF24BB7046FC}"/>
              </a:ext>
            </a:extLst>
          </p:cNvPr>
          <p:cNvGrpSpPr/>
          <p:nvPr/>
        </p:nvGrpSpPr>
        <p:grpSpPr>
          <a:xfrm>
            <a:off x="9286493" y="1038946"/>
            <a:ext cx="2706624" cy="1557777"/>
            <a:chOff x="9451848" y="376173"/>
            <a:chExt cx="2706624" cy="1557777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821AA9B-95C7-4A14-4C88-BDA3069A9342}"/>
                </a:ext>
              </a:extLst>
            </p:cNvPr>
            <p:cNvSpPr txBox="1"/>
            <p:nvPr/>
          </p:nvSpPr>
          <p:spPr>
            <a:xfrm>
              <a:off x="9451848" y="376173"/>
              <a:ext cx="270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0">
                  <a:solidFill>
                    <a:srgbClr val="404040"/>
                  </a:solidFill>
                  <a:effectLst/>
                  <a:latin typeface="DeepSeek-CJK-patch"/>
                </a:rPr>
                <a:t>Training</a:t>
              </a:r>
              <a:endParaRPr lang="en-US" b="1">
                <a:solidFill>
                  <a:srgbClr val="404040"/>
                </a:solidFill>
                <a:latin typeface="DeepSeek-CJK-patch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57893A03-0251-1008-DCFC-946666676977}"/>
                </a:ext>
              </a:extLst>
            </p:cNvPr>
            <p:cNvSpPr/>
            <p:nvPr/>
          </p:nvSpPr>
          <p:spPr>
            <a:xfrm>
              <a:off x="9911334" y="796299"/>
              <a:ext cx="1915668" cy="1137651"/>
            </a:xfrm>
            <a:prstGeom prst="round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0" i="0">
                  <a:solidFill>
                    <a:srgbClr val="404040"/>
                  </a:solidFill>
                  <a:effectLst/>
                  <a:latin typeface="DeepSeek-CJK-patch"/>
                </a:rPr>
                <a:t>Adam Optimizer  Callbacks (ModelCheckpoint, ReduceLROnPlateau)</a:t>
              </a:r>
              <a:endParaRPr lang="en-US" sz="140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036336E-FC2E-79FA-8CDE-AD08B3F48CEC}"/>
              </a:ext>
            </a:extLst>
          </p:cNvPr>
          <p:cNvGrpSpPr/>
          <p:nvPr/>
        </p:nvGrpSpPr>
        <p:grpSpPr>
          <a:xfrm>
            <a:off x="9236650" y="3216961"/>
            <a:ext cx="2706624" cy="1044317"/>
            <a:chOff x="9442704" y="2240280"/>
            <a:chExt cx="2706624" cy="10443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F6793A8-D0F9-A076-623F-F08BE3DCA432}"/>
                </a:ext>
              </a:extLst>
            </p:cNvPr>
            <p:cNvSpPr txBox="1"/>
            <p:nvPr/>
          </p:nvSpPr>
          <p:spPr>
            <a:xfrm>
              <a:off x="9442704" y="2240280"/>
              <a:ext cx="270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0">
                  <a:solidFill>
                    <a:srgbClr val="404040"/>
                  </a:solidFill>
                  <a:effectLst/>
                  <a:latin typeface="DeepSeek-CJK-patch"/>
                </a:rPr>
                <a:t>Testing &amp; Evaluation</a:t>
              </a:r>
              <a:endParaRPr lang="en-US" b="1">
                <a:solidFill>
                  <a:srgbClr val="404040"/>
                </a:solidFill>
                <a:latin typeface="DeepSeek-CJK-patch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BDF4F6C-A0A5-07D9-0CB8-F9C9BFEED7B2}"/>
                </a:ext>
              </a:extLst>
            </p:cNvPr>
            <p:cNvSpPr/>
            <p:nvPr/>
          </p:nvSpPr>
          <p:spPr>
            <a:xfrm>
              <a:off x="9965436" y="2607941"/>
              <a:ext cx="1661160" cy="676656"/>
            </a:xfrm>
            <a:prstGeom prst="round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</a:pPr>
              <a:r>
                <a:rPr lang="en-US" sz="1400"/>
                <a:t>Accuracy, Precision, Recall, F1-Score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A4CAD8C-1928-5EF2-721F-04A6B5E6251C}"/>
              </a:ext>
            </a:extLst>
          </p:cNvPr>
          <p:cNvGrpSpPr/>
          <p:nvPr/>
        </p:nvGrpSpPr>
        <p:grpSpPr>
          <a:xfrm>
            <a:off x="1937004" y="1227702"/>
            <a:ext cx="2706624" cy="3121005"/>
            <a:chOff x="1970532" y="493776"/>
            <a:chExt cx="2706624" cy="312100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C8EE1C-13E0-10A3-1979-9559652DED27}"/>
                </a:ext>
              </a:extLst>
            </p:cNvPr>
            <p:cNvSpPr txBox="1"/>
            <p:nvPr/>
          </p:nvSpPr>
          <p:spPr>
            <a:xfrm>
              <a:off x="1970532" y="493776"/>
              <a:ext cx="270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rgbClr val="404040"/>
                  </a:solidFill>
                  <a:latin typeface="DeepSeek-CJK-patch"/>
                </a:rPr>
                <a:t>Data Preparation 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0EF2DA9-4910-F221-5083-23523B82CBB0}"/>
                </a:ext>
              </a:extLst>
            </p:cNvPr>
            <p:cNvGrpSpPr/>
            <p:nvPr/>
          </p:nvGrpSpPr>
          <p:grpSpPr>
            <a:xfrm>
              <a:off x="2391346" y="880725"/>
              <a:ext cx="1864995" cy="2734056"/>
              <a:chOff x="3961257" y="3233289"/>
              <a:chExt cx="1864995" cy="2734056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2E35526-F8AE-4DAF-6D85-A5B681A30B25}"/>
                  </a:ext>
                </a:extLst>
              </p:cNvPr>
              <p:cNvSpPr/>
              <p:nvPr/>
            </p:nvSpPr>
            <p:spPr>
              <a:xfrm>
                <a:off x="3961257" y="3233289"/>
                <a:ext cx="1864995" cy="2734056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CF3A0DF-FB87-AE15-5FF0-6D0E835EE91E}"/>
                  </a:ext>
                </a:extLst>
              </p:cNvPr>
              <p:cNvSpPr/>
              <p:nvPr/>
            </p:nvSpPr>
            <p:spPr>
              <a:xfrm>
                <a:off x="4164522" y="3436473"/>
                <a:ext cx="1417320" cy="676656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  <a:p>
                <a:pPr algn="ctr"/>
                <a:r>
                  <a:rPr lang="en-US" sz="1400"/>
                  <a:t>Frame Extraction (OpenCV)</a:t>
                </a:r>
              </a:p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7FB1E67-0316-43B0-92FF-0443663E97A3}"/>
                  </a:ext>
                </a:extLst>
              </p:cNvPr>
              <p:cNvSpPr/>
              <p:nvPr/>
            </p:nvSpPr>
            <p:spPr>
              <a:xfrm>
                <a:off x="4146424" y="4261989"/>
                <a:ext cx="1417320" cy="676656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  <a:p>
                <a:pPr algn="ctr">
                  <a:spcBef>
                    <a:spcPts val="300"/>
                  </a:spcBef>
                </a:pPr>
                <a:r>
                  <a:rPr lang="en-US" sz="1400"/>
                  <a:t>Resizing (128×128)</a:t>
                </a:r>
              </a:p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B7C788D-15B8-2A00-6E9B-5E44A5DA0CFA}"/>
                  </a:ext>
                </a:extLst>
              </p:cNvPr>
              <p:cNvSpPr/>
              <p:nvPr/>
            </p:nvSpPr>
            <p:spPr>
              <a:xfrm>
                <a:off x="4146424" y="5087505"/>
                <a:ext cx="1417320" cy="676656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  <a:p>
                <a:pPr algn="ctr">
                  <a:spcBef>
                    <a:spcPts val="300"/>
                  </a:spcBef>
                </a:pPr>
                <a:r>
                  <a:rPr lang="en-US" sz="1400"/>
                  <a:t>Normalization (0–1)</a:t>
                </a:r>
              </a:p>
              <a:p>
                <a:pPr algn="ctr"/>
                <a:endParaRPr lang="en-US"/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F9E73035-73FA-EC11-CCDD-E8620A1A8C37}"/>
              </a:ext>
            </a:extLst>
          </p:cNvPr>
          <p:cNvSpPr txBox="1"/>
          <p:nvPr/>
        </p:nvSpPr>
        <p:spPr>
          <a:xfrm>
            <a:off x="548640" y="1170225"/>
            <a:ext cx="877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Input 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3F6AEEA-A936-D5DE-7016-7883D6C131E6}"/>
              </a:ext>
            </a:extLst>
          </p:cNvPr>
          <p:cNvGrpSpPr/>
          <p:nvPr/>
        </p:nvGrpSpPr>
        <p:grpSpPr>
          <a:xfrm>
            <a:off x="9324307" y="4705633"/>
            <a:ext cx="2630995" cy="1016754"/>
            <a:chOff x="9437373" y="4629958"/>
            <a:chExt cx="2630995" cy="101675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AF06CD7-DE85-0986-476A-C8B6FB2AC281}"/>
                </a:ext>
              </a:extLst>
            </p:cNvPr>
            <p:cNvSpPr txBox="1"/>
            <p:nvPr/>
          </p:nvSpPr>
          <p:spPr>
            <a:xfrm>
              <a:off x="10117647" y="4629958"/>
              <a:ext cx="1245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rgbClr val="FF0000"/>
                  </a:solidFill>
                </a:rPr>
                <a:t>Output </a:t>
              </a:r>
            </a:p>
          </p:txBody>
        </p:sp>
        <p:sp>
          <p:nvSpPr>
            <p:cNvPr id="48" name="Callout: Line 47">
              <a:extLst>
                <a:ext uri="{FF2B5EF4-FFF2-40B4-BE49-F238E27FC236}">
                  <a16:creationId xmlns:a16="http://schemas.microsoft.com/office/drawing/2014/main" id="{3225FC0A-DB6C-085B-49B6-6435F51E3C12}"/>
                </a:ext>
              </a:extLst>
            </p:cNvPr>
            <p:cNvSpPr/>
            <p:nvPr/>
          </p:nvSpPr>
          <p:spPr>
            <a:xfrm>
              <a:off x="9437373" y="5197525"/>
              <a:ext cx="853440" cy="449187"/>
            </a:xfrm>
            <a:prstGeom prst="borderCallout1">
              <a:avLst>
                <a:gd name="adj1" fmla="val 47250"/>
                <a:gd name="adj2" fmla="val 100953"/>
                <a:gd name="adj3" fmla="val -64604"/>
                <a:gd name="adj4" fmla="val 148095"/>
              </a:avLst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Real</a:t>
              </a:r>
              <a:r>
                <a:rPr lang="en-US"/>
                <a:t> </a:t>
              </a:r>
            </a:p>
          </p:txBody>
        </p:sp>
        <p:sp>
          <p:nvSpPr>
            <p:cNvPr id="49" name="Callout: Line 48">
              <a:extLst>
                <a:ext uri="{FF2B5EF4-FFF2-40B4-BE49-F238E27FC236}">
                  <a16:creationId xmlns:a16="http://schemas.microsoft.com/office/drawing/2014/main" id="{1F00986E-9FED-F89B-5D42-FF568C5B3AAF}"/>
                </a:ext>
              </a:extLst>
            </p:cNvPr>
            <p:cNvSpPr/>
            <p:nvPr/>
          </p:nvSpPr>
          <p:spPr>
            <a:xfrm>
              <a:off x="11214928" y="5197525"/>
              <a:ext cx="853440" cy="449187"/>
            </a:xfrm>
            <a:prstGeom prst="borderCallout1">
              <a:avLst>
                <a:gd name="adj1" fmla="val 51321"/>
                <a:gd name="adj2" fmla="val -833"/>
                <a:gd name="adj3" fmla="val -62568"/>
                <a:gd name="adj4" fmla="val -59762"/>
              </a:avLst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Fake</a:t>
              </a:r>
              <a:r>
                <a:rPr lang="en-US"/>
                <a:t> </a:t>
              </a:r>
            </a:p>
          </p:txBody>
        </p:sp>
      </p:grpSp>
      <p:sp>
        <p:nvSpPr>
          <p:cNvPr id="51" name="Arrow: Notched Right 50">
            <a:extLst>
              <a:ext uri="{FF2B5EF4-FFF2-40B4-BE49-F238E27FC236}">
                <a16:creationId xmlns:a16="http://schemas.microsoft.com/office/drawing/2014/main" id="{B8B93714-D8FD-8EFC-46E7-DE8F2491E533}"/>
              </a:ext>
            </a:extLst>
          </p:cNvPr>
          <p:cNvSpPr/>
          <p:nvPr/>
        </p:nvSpPr>
        <p:spPr>
          <a:xfrm>
            <a:off x="4302061" y="2725990"/>
            <a:ext cx="318039" cy="213424"/>
          </a:xfrm>
          <a:prstGeom prst="notched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Notched Right 51">
            <a:extLst>
              <a:ext uri="{FF2B5EF4-FFF2-40B4-BE49-F238E27FC236}">
                <a16:creationId xmlns:a16="http://schemas.microsoft.com/office/drawing/2014/main" id="{EF368C77-3A53-932E-FB9B-6449AC1E7A3A}"/>
              </a:ext>
            </a:extLst>
          </p:cNvPr>
          <p:cNvSpPr/>
          <p:nvPr/>
        </p:nvSpPr>
        <p:spPr>
          <a:xfrm>
            <a:off x="1818012" y="2596723"/>
            <a:ext cx="469441" cy="325241"/>
          </a:xfrm>
          <a:prstGeom prst="notched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Notched Right 52">
            <a:extLst>
              <a:ext uri="{FF2B5EF4-FFF2-40B4-BE49-F238E27FC236}">
                <a16:creationId xmlns:a16="http://schemas.microsoft.com/office/drawing/2014/main" id="{058E0568-9F01-3053-B738-880C1535CB9A}"/>
              </a:ext>
            </a:extLst>
          </p:cNvPr>
          <p:cNvSpPr/>
          <p:nvPr/>
        </p:nvSpPr>
        <p:spPr>
          <a:xfrm>
            <a:off x="6159247" y="2750782"/>
            <a:ext cx="318039" cy="213424"/>
          </a:xfrm>
          <a:prstGeom prst="notched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Notched Right 53">
            <a:extLst>
              <a:ext uri="{FF2B5EF4-FFF2-40B4-BE49-F238E27FC236}">
                <a16:creationId xmlns:a16="http://schemas.microsoft.com/office/drawing/2014/main" id="{51CF4D50-C2ED-5619-3A17-9694F0C03EE2}"/>
              </a:ext>
            </a:extLst>
          </p:cNvPr>
          <p:cNvSpPr/>
          <p:nvPr/>
        </p:nvSpPr>
        <p:spPr>
          <a:xfrm>
            <a:off x="9161476" y="1865276"/>
            <a:ext cx="469441" cy="325241"/>
          </a:xfrm>
          <a:prstGeom prst="notched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Notched Right 54">
            <a:extLst>
              <a:ext uri="{FF2B5EF4-FFF2-40B4-BE49-F238E27FC236}">
                <a16:creationId xmlns:a16="http://schemas.microsoft.com/office/drawing/2014/main" id="{51391881-8485-EEE1-D699-767FEF41A80B}"/>
              </a:ext>
            </a:extLst>
          </p:cNvPr>
          <p:cNvSpPr/>
          <p:nvPr/>
        </p:nvSpPr>
        <p:spPr>
          <a:xfrm rot="5400000">
            <a:off x="10355242" y="2787091"/>
            <a:ext cx="469441" cy="325241"/>
          </a:xfrm>
          <a:prstGeom prst="notched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Notched Right 56">
            <a:extLst>
              <a:ext uri="{FF2B5EF4-FFF2-40B4-BE49-F238E27FC236}">
                <a16:creationId xmlns:a16="http://schemas.microsoft.com/office/drawing/2014/main" id="{C7D010AB-F895-AF6F-4F03-70BDB661FE79}"/>
              </a:ext>
            </a:extLst>
          </p:cNvPr>
          <p:cNvSpPr/>
          <p:nvPr/>
        </p:nvSpPr>
        <p:spPr>
          <a:xfrm rot="5400000">
            <a:off x="10355242" y="4344777"/>
            <a:ext cx="469441" cy="325241"/>
          </a:xfrm>
          <a:prstGeom prst="notched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그룹 1">
            <a:extLst>
              <a:ext uri="{FF2B5EF4-FFF2-40B4-BE49-F238E27FC236}">
                <a16:creationId xmlns:a16="http://schemas.microsoft.com/office/drawing/2014/main" id="{1A6336AD-7FB5-EF6B-C03D-F0862A216DF4}"/>
              </a:ext>
            </a:extLst>
          </p:cNvPr>
          <p:cNvGrpSpPr/>
          <p:nvPr/>
        </p:nvGrpSpPr>
        <p:grpSpPr>
          <a:xfrm>
            <a:off x="382478" y="525016"/>
            <a:ext cx="4457531" cy="612680"/>
            <a:chOff x="1050573" y="633898"/>
            <a:chExt cx="4457531" cy="61268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C11E192-870B-3B26-53F5-511CD15F97E7}"/>
                </a:ext>
              </a:extLst>
            </p:cNvPr>
            <p:cNvSpPr/>
            <p:nvPr/>
          </p:nvSpPr>
          <p:spPr>
            <a:xfrm>
              <a:off x="1122582" y="633898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0" name="TextBox 13">
              <a:extLst>
                <a:ext uri="{FF2B5EF4-FFF2-40B4-BE49-F238E27FC236}">
                  <a16:creationId xmlns:a16="http://schemas.microsoft.com/office/drawing/2014/main" id="{44E651A0-A8A4-0F18-69C3-26B200E64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661803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04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21" name="Text Box 5">
              <a:extLst>
                <a:ext uri="{FF2B5EF4-FFF2-40B4-BE49-F238E27FC236}">
                  <a16:creationId xmlns:a16="http://schemas.microsoft.com/office/drawing/2014/main" id="{7C82201D-151B-4D87-551C-A95471AD21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723358"/>
              <a:ext cx="372482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2800" b="1">
                  <a:latin typeface="+mj-lt"/>
                </a:rPr>
                <a:t>Implementation</a:t>
              </a:r>
              <a:endParaRPr 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394609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4B4E3-1146-4EBB-48BF-8909AC5F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Preparation</a:t>
            </a:r>
          </a:p>
        </p:txBody>
      </p:sp>
      <p:pic>
        <p:nvPicPr>
          <p:cNvPr id="4" name="Content Placeholder 3" descr="A diagram of a video game&#10;&#10;AI-generated content may be incorrect.">
            <a:extLst>
              <a:ext uri="{FF2B5EF4-FFF2-40B4-BE49-F238E27FC236}">
                <a16:creationId xmlns:a16="http://schemas.microsoft.com/office/drawing/2014/main" id="{28F85D1B-83FE-9BEE-E058-AFF69A9C0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7530" y="578738"/>
            <a:ext cx="3785091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42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A46BB-0AAC-ED29-30F1-89EFDB8C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Augmentation</a:t>
            </a:r>
          </a:p>
        </p:txBody>
      </p:sp>
      <p:pic>
        <p:nvPicPr>
          <p:cNvPr id="4" name="Content Placeholder 3" descr="A diagram of a video frame&#10;&#10;AI-generated content may be incorrect.">
            <a:extLst>
              <a:ext uri="{FF2B5EF4-FFF2-40B4-BE49-F238E27FC236}">
                <a16:creationId xmlns:a16="http://schemas.microsoft.com/office/drawing/2014/main" id="{ACCC3319-217C-1F8E-B617-D14FDFD98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06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88904-7722-B89F-D5DC-3186121E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Architecture</a:t>
            </a:r>
          </a:p>
        </p:txBody>
      </p:sp>
      <p:pic>
        <p:nvPicPr>
          <p:cNvPr id="4" name="Content Placeholder 3" descr="A diagram of a process&#10;&#10;AI-generated content may be incorrect.">
            <a:extLst>
              <a:ext uri="{FF2B5EF4-FFF2-40B4-BE49-F238E27FC236}">
                <a16:creationId xmlns:a16="http://schemas.microsoft.com/office/drawing/2014/main" id="{FB115917-5651-5DDE-60E4-7D7817AFA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7530" y="578738"/>
            <a:ext cx="3785091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48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C6619-EFFB-1309-E502-D2A28D457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Training</a:t>
            </a:r>
          </a:p>
        </p:txBody>
      </p:sp>
      <p:pic>
        <p:nvPicPr>
          <p:cNvPr id="4" name="Content Placeholder 3" descr="A diagram of a training model&#10;&#10;AI-generated content may be incorrect.">
            <a:extLst>
              <a:ext uri="{FF2B5EF4-FFF2-40B4-BE49-F238E27FC236}">
                <a16:creationId xmlns:a16="http://schemas.microsoft.com/office/drawing/2014/main" id="{330EDC00-B3AB-3DAC-C842-09FB793A5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5751" y="1508751"/>
            <a:ext cx="5708649" cy="381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86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">
            <a:extLst>
              <a:ext uri="{FF2B5EF4-FFF2-40B4-BE49-F238E27FC236}">
                <a16:creationId xmlns:a16="http://schemas.microsoft.com/office/drawing/2014/main" id="{0863CA29-AE0B-C09E-6FEB-D89A5CD40C7C}"/>
              </a:ext>
            </a:extLst>
          </p:cNvPr>
          <p:cNvGrpSpPr/>
          <p:nvPr/>
        </p:nvGrpSpPr>
        <p:grpSpPr>
          <a:xfrm>
            <a:off x="382478" y="525016"/>
            <a:ext cx="4457531" cy="612680"/>
            <a:chOff x="1050573" y="633898"/>
            <a:chExt cx="4457531" cy="6126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BB8102-2867-ACF9-FB6F-EF232E88D360}"/>
                </a:ext>
              </a:extLst>
            </p:cNvPr>
            <p:cNvSpPr/>
            <p:nvPr/>
          </p:nvSpPr>
          <p:spPr>
            <a:xfrm>
              <a:off x="1122582" y="633898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" name="TextBox 13">
              <a:extLst>
                <a:ext uri="{FF2B5EF4-FFF2-40B4-BE49-F238E27FC236}">
                  <a16:creationId xmlns:a16="http://schemas.microsoft.com/office/drawing/2014/main" id="{7253E7EC-02A5-BBF0-0C07-8D591D8A7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661803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b="1">
                  <a:latin typeface="+mj-lt"/>
                  <a:ea typeface="맑은 고딕" panose="020B0503020000020004" pitchFamily="50" charset="-127"/>
                </a:rPr>
                <a:t>05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2C1B1083-5FEE-949C-E596-EDED06145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723358"/>
              <a:ext cx="372482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2800" b="1">
                  <a:latin typeface="+mj-lt"/>
                </a:rPr>
                <a:t>Model Output</a:t>
              </a:r>
            </a:p>
          </p:txBody>
        </p:sp>
      </p:grpSp>
      <p:pic>
        <p:nvPicPr>
          <p:cNvPr id="8" name="Content Placeholder 3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07FA9EFE-7717-4C1B-B31B-391D1969F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29" y="2346036"/>
            <a:ext cx="11508941" cy="1870476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4496C310-BD98-74CD-ABF0-5921792A269B}"/>
              </a:ext>
            </a:extLst>
          </p:cNvPr>
          <p:cNvSpPr/>
          <p:nvPr/>
        </p:nvSpPr>
        <p:spPr>
          <a:xfrm>
            <a:off x="8235370" y="1625600"/>
            <a:ext cx="350983" cy="109912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678198D3-2F56-8223-FA9C-7E0598C691B9}"/>
              </a:ext>
            </a:extLst>
          </p:cNvPr>
          <p:cNvSpPr/>
          <p:nvPr/>
        </p:nvSpPr>
        <p:spPr>
          <a:xfrm rot="10800000">
            <a:off x="8235370" y="3782513"/>
            <a:ext cx="385619" cy="109912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91D5B967-459B-508C-64B4-2ED5ED23293B}"/>
              </a:ext>
            </a:extLst>
          </p:cNvPr>
          <p:cNvSpPr/>
          <p:nvPr/>
        </p:nvSpPr>
        <p:spPr>
          <a:xfrm>
            <a:off x="3140364" y="3983181"/>
            <a:ext cx="981363" cy="23090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82242AB8-4628-76F2-2F7C-10EA66E6C3D2}"/>
              </a:ext>
            </a:extLst>
          </p:cNvPr>
          <p:cNvSpPr/>
          <p:nvPr/>
        </p:nvSpPr>
        <p:spPr>
          <a:xfrm>
            <a:off x="3140364" y="3163454"/>
            <a:ext cx="981363" cy="23090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4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F19B711-C590-44D1-9AA8-9F143B0E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0C79CF2-6A1C-4636-84CE-ABB2BE191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A5D17DF-AD65-402C-A95C-F13C770C9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oup of icons with text&#10;&#10;AI-generated content may be incorrect.">
            <a:extLst>
              <a:ext uri="{FF2B5EF4-FFF2-40B4-BE49-F238E27FC236}">
                <a16:creationId xmlns:a16="http://schemas.microsoft.com/office/drawing/2014/main" id="{30A207A8-B3EF-C381-3C4A-3A83083E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03" y="1099800"/>
            <a:ext cx="4604800" cy="4604800"/>
          </a:xfrm>
          <a:prstGeom prst="rect">
            <a:avLst/>
          </a:prstGeom>
        </p:spPr>
      </p:pic>
      <p:grpSp>
        <p:nvGrpSpPr>
          <p:cNvPr id="4" name="그룹 1">
            <a:extLst>
              <a:ext uri="{FF2B5EF4-FFF2-40B4-BE49-F238E27FC236}">
                <a16:creationId xmlns:a16="http://schemas.microsoft.com/office/drawing/2014/main" id="{542F961C-362A-0F50-0810-CAD0BD26DE64}"/>
              </a:ext>
            </a:extLst>
          </p:cNvPr>
          <p:cNvGrpSpPr/>
          <p:nvPr/>
        </p:nvGrpSpPr>
        <p:grpSpPr>
          <a:xfrm>
            <a:off x="6256863" y="2862340"/>
            <a:ext cx="4814656" cy="1127174"/>
            <a:chOff x="1050573" y="633898"/>
            <a:chExt cx="4457531" cy="104356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7D68920-62D3-2572-E84D-E6D6F178A487}"/>
                </a:ext>
              </a:extLst>
            </p:cNvPr>
            <p:cNvSpPr/>
            <p:nvPr/>
          </p:nvSpPr>
          <p:spPr>
            <a:xfrm>
              <a:off x="1122582" y="633898"/>
              <a:ext cx="576064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" name="TextBox 13">
              <a:extLst>
                <a:ext uri="{FF2B5EF4-FFF2-40B4-BE49-F238E27FC236}">
                  <a16:creationId xmlns:a16="http://schemas.microsoft.com/office/drawing/2014/main" id="{AE356E33-233A-83BE-BD6C-22EC3E684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573" y="661803"/>
              <a:ext cx="72008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defTabSz="978957">
                <a:spcAft>
                  <a:spcPts val="606"/>
                </a:spcAft>
              </a:pPr>
              <a:r>
                <a:rPr lang="en-US" altLang="ko-KR" sz="2998" b="1" kern="1200">
                  <a:solidFill>
                    <a:schemeClr val="tx1"/>
                  </a:solidFill>
                  <a:latin typeface="+mj-lt"/>
                  <a:ea typeface="맑은 고딕" panose="020B0503020000020004" pitchFamily="50" charset="-127"/>
                  <a:cs typeface="+mn-cs"/>
                </a:rPr>
                <a:t>06</a:t>
              </a:r>
              <a:endParaRPr lang="ko-KR" altLang="en-US" sz="2800" b="1">
                <a:latin typeface="+mj-lt"/>
                <a:ea typeface="맑은 고딕" panose="020B0503020000020004" pitchFamily="50" charset="-127"/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C2264DE8-F222-2160-F8AB-48B73FA5C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283" y="723358"/>
              <a:ext cx="3724821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78957">
                <a:spcAft>
                  <a:spcPts val="606"/>
                </a:spcAft>
                <a:defRPr/>
              </a:pPr>
              <a:r>
                <a:rPr lang="en-US" altLang="ko-KR" sz="2998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Future Work</a:t>
              </a:r>
            </a:p>
            <a:p>
              <a:pPr defTabSz="978957">
                <a:spcAft>
                  <a:spcPts val="606"/>
                </a:spcAft>
                <a:defRPr/>
              </a:pPr>
              <a:r>
                <a:rPr lang="en-US" sz="2998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 </a:t>
              </a:r>
              <a:endParaRPr lang="en-US" altLang="ko-KR" sz="2800" b="1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3128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1,800+ Fake Person Illustration Stock Videos and Royalty-Free Footage -  iStock | Mask illustration">
            <a:extLst>
              <a:ext uri="{FF2B5EF4-FFF2-40B4-BE49-F238E27FC236}">
                <a16:creationId xmlns:a16="http://schemas.microsoft.com/office/drawing/2014/main" id="{7AEC9129-6189-BBED-1B72-16882F550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875DF3-BF00-EBC7-14F8-D1F48DFE3ED0}"/>
              </a:ext>
            </a:extLst>
          </p:cNvPr>
          <p:cNvSpPr txBox="1"/>
          <p:nvPr/>
        </p:nvSpPr>
        <p:spPr>
          <a:xfrm>
            <a:off x="5837381" y="3029528"/>
            <a:ext cx="4154792" cy="1690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kern="1200">
                <a:solidFill>
                  <a:schemeClr val="bg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Thanks</a:t>
            </a:r>
            <a:r>
              <a:rPr lang="en-US" sz="9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885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Macintosh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Angsana New</vt:lpstr>
      <vt:lpstr>Aptos</vt:lpstr>
      <vt:lpstr>Aptos Display</vt:lpstr>
      <vt:lpstr>Arial</vt:lpstr>
      <vt:lpstr>Bodoni MT Condensed</vt:lpstr>
      <vt:lpstr>Book Antiqua</vt:lpstr>
      <vt:lpstr>DeepSeek-CJK-patch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Preparation</vt:lpstr>
      <vt:lpstr>Data Augmentation</vt:lpstr>
      <vt:lpstr>Model Architecture</vt:lpstr>
      <vt:lpstr>Model Training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Moayad Altawalbeh</dc:creator>
  <cp:lastModifiedBy>Poornima Vaidya</cp:lastModifiedBy>
  <cp:revision>3</cp:revision>
  <dcterms:created xsi:type="dcterms:W3CDTF">2025-04-05T21:51:17Z</dcterms:created>
  <dcterms:modified xsi:type="dcterms:W3CDTF">2026-02-20T16:34:44Z</dcterms:modified>
</cp:coreProperties>
</file>